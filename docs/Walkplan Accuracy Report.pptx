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2DB0F4-A25C-48E3-B056-73488EBD440F}">
  <a:tblStyle styleId="{7E2DB0F4-A25C-48E3-B056-73488EBD44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69cd39469f8b78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69cd39469f8b78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69cd39469f8b782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69cd39469f8b78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69cd39469f8b782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69cd39469f8b782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69cd39469f8b782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69cd39469f8b782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62761f576035a3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62761f576035a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2761f576035a3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62761f576035a3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62761f576035a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62761f576035a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62761f576035a3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62761f576035a3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62761f576035a3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62761f576035a3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62761f576035a3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62761f576035a3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62761f576035a3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62761f576035a3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62761f576035a3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62761f576035a3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62761f576035a3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62761f576035a3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62761f576035a3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62761f576035a3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8.jpg"/><Relationship Id="rId5" Type="http://schemas.openxmlformats.org/officeDocument/2006/relationships/image" Target="../media/image11.jpg"/><Relationship Id="rId6" Type="http://schemas.openxmlformats.org/officeDocument/2006/relationships/image" Target="../media/image4.jpg"/><Relationship Id="rId7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34350" y="2097000"/>
            <a:ext cx="6675300" cy="94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Accuracy Report</a:t>
            </a:r>
            <a:endParaRPr sz="32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14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Room Details 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716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1  - Simple Room - 2 Windows,2 Doors,2 Cupboards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2  - Large room - 3 Doors, 1 Large Mirror, 1 Window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actual measurements were captured using the iPhone 18 Pro LiDAR sensor.</a:t>
            </a:r>
            <a:endParaRPr/>
          </a:p>
        </p:txBody>
      </p:sp>
      <p:pic>
        <p:nvPicPr>
          <p:cNvPr id="61" name="Google Shape;61;p14" title="179104875342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625" y="2219325"/>
            <a:ext cx="3814799" cy="21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179104875341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800" y="2219325"/>
            <a:ext cx="3814799" cy="21458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797075" y="45259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Room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370250" y="45259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Room 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4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Photos Tier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62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photos taken from 8 standard angles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Maintained a consistent clockwise capture order. 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150" y="1352900"/>
            <a:ext cx="2657857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350" y="1309600"/>
            <a:ext cx="3696533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840375" y="46818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Room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608375" y="46818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Room 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5" y="0"/>
            <a:ext cx="3998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4710550" y="480575"/>
            <a:ext cx="4069800" cy="4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4393800" y="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{7E2DB0F4-A25C-48E3-B056-73488EBD440F}</a:tableStyleId>
              </a:tblPr>
              <a:tblGrid>
                <a:gridCol w="1178050"/>
                <a:gridCol w="1178050"/>
                <a:gridCol w="1178050"/>
                <a:gridCol w="1178050"/>
              </a:tblGrid>
              <a:tr h="50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Item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Actual (m) 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Difference</a:t>
                      </a:r>
                      <a:endParaRPr b="1"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(Pred - Actual)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Remarks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5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 x 2.14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Width -0.21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Accurate length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0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D6 Wall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1.8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 -0.09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Within acceptable error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D5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0.81 x 2.14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Width -0.05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 -0.23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0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D1,D2,D3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Single door misclassified as 3 doors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0.48 x 93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Width -0.02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Near-perfect accuracy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W5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4.36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 -0.29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3.27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 +0.05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Within acceptable error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7"/>
          <p:cNvGraphicFramePr/>
          <p:nvPr/>
        </p:nvGraphicFramePr>
        <p:xfrm>
          <a:off x="4393800" y="16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{7E2DB0F4-A25C-48E3-B056-73488EBD440F}</a:tableStyleId>
              </a:tblPr>
              <a:tblGrid>
                <a:gridCol w="1126100"/>
                <a:gridCol w="1126100"/>
                <a:gridCol w="1126100"/>
                <a:gridCol w="1126100"/>
              </a:tblGrid>
              <a:tr h="42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Item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Actual (m) 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Difference</a:t>
                      </a:r>
                      <a:endParaRPr b="1"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(Pred - Actual)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Remarks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W1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4.41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 </a:t>
                      </a:r>
                      <a:r>
                        <a:rPr lang="en" sz="1100"/>
                        <a:t>-0.09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Within acceptable error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D4,N3,N4,N5,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N6,D2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Mis classification</a:t>
                      </a:r>
                      <a:r>
                        <a:rPr lang="en" sz="1100"/>
                        <a:t> of door and windows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W10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7.17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 +0.17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Within acceptable error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Ceiling ht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2.72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 +0.07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Excluded; ceiling not visible in photos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" y="0"/>
            <a:ext cx="32908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14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Videos Tier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62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1 Video: Contains voice narration describing structural damage.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Room 2 Video: Standard walkthrough; no structural damage noted.</a:t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1840375" y="46818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Room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6608375" y="46818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Room 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700" y="1454775"/>
            <a:ext cx="2864600" cy="327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150" y="1547850"/>
            <a:ext cx="2258850" cy="29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4710550" y="480575"/>
            <a:ext cx="4069800" cy="4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graphicFrame>
        <p:nvGraphicFramePr>
          <p:cNvPr id="103" name="Google Shape;103;p19"/>
          <p:cNvGraphicFramePr/>
          <p:nvPr/>
        </p:nvGraphicFramePr>
        <p:xfrm>
          <a:off x="4393800" y="16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{7E2DB0F4-A25C-48E3-B056-73488EBD440F}</a:tableStyleId>
              </a:tblPr>
              <a:tblGrid>
                <a:gridCol w="1126100"/>
                <a:gridCol w="1126100"/>
                <a:gridCol w="1126100"/>
                <a:gridCol w="1126100"/>
              </a:tblGrid>
              <a:tr h="49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Item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Actual (m) 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Difference</a:t>
                      </a:r>
                      <a:endParaRPr b="1"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(Pred - Actual)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Remarks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 x 2.14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Width +0.02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Exact length; minor width variance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D1,D4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Single door misclassified as 2 doors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Mirror misclassified as a window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X1,X2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Structural damage accurately identified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4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Ceiling ht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Corner:3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Include dome: 5.07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 +0.13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Excluded; ceiling dome not captured in video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5" y="72250"/>
            <a:ext cx="3570300" cy="498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5" y="72250"/>
            <a:ext cx="3570300" cy="4989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 title="X1_P0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350" y="503300"/>
            <a:ext cx="2525299" cy="142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X1_P1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7375" y="548488"/>
            <a:ext cx="2364598" cy="133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X2_P1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1975" y="2571738"/>
            <a:ext cx="2859651" cy="16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 title="X2_P13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4138" y="2591038"/>
            <a:ext cx="2791075" cy="1569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/>
        </p:nvSpPr>
        <p:spPr>
          <a:xfrm>
            <a:off x="4710550" y="480575"/>
            <a:ext cx="4069800" cy="4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graphicFrame>
        <p:nvGraphicFramePr>
          <p:cNvPr id="119" name="Google Shape;119;p21"/>
          <p:cNvGraphicFramePr/>
          <p:nvPr/>
        </p:nvGraphicFramePr>
        <p:xfrm>
          <a:off x="4393800" y="16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{7E2DB0F4-A25C-48E3-B056-73488EBD440F}</a:tableStyleId>
              </a:tblPr>
              <a:tblGrid>
                <a:gridCol w="1126100"/>
                <a:gridCol w="1126100"/>
                <a:gridCol w="1126100"/>
                <a:gridCol w="1126100"/>
              </a:tblGrid>
              <a:tr h="42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Item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Actual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Difference</a:t>
                      </a:r>
                      <a:endParaRPr b="1"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(Pred - Actual)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Remarks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D1,D2,D7,D4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Wrong identification of mirror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room2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Position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is wrong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12921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14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Lidar Tier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62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Stray scanner app is used and shot in iphone 18 pro</a:t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1840375" y="46818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Room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6608375" y="46818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Room 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350" y="1250050"/>
            <a:ext cx="3236700" cy="33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375" y="1171450"/>
            <a:ext cx="3522400" cy="336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/>
        </p:nvSpPr>
        <p:spPr>
          <a:xfrm>
            <a:off x="4710550" y="480575"/>
            <a:ext cx="4069800" cy="4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graphicFrame>
        <p:nvGraphicFramePr>
          <p:cNvPr id="136" name="Google Shape;136;p23"/>
          <p:cNvGraphicFramePr/>
          <p:nvPr/>
        </p:nvGraphicFramePr>
        <p:xfrm>
          <a:off x="4393800" y="16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{7E2DB0F4-A25C-48E3-B056-73488EBD440F}</a:tableStyleId>
              </a:tblPr>
              <a:tblGrid>
                <a:gridCol w="1126100"/>
                <a:gridCol w="1126100"/>
                <a:gridCol w="1126100"/>
                <a:gridCol w="1126100"/>
              </a:tblGrid>
              <a:tr h="49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Item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Actual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Difference</a:t>
                      </a:r>
                      <a:endParaRPr b="1"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(Pred - Actual)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Remarks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5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D1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 x 2.14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Length:-0.11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Width -0.14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Within acceptable error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W8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1.63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Length: +0.04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Within acceptable error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0.81 x 2.14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Width: -0.08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Perfect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N1,N2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Mirror misclassified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N3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0.48 x 0.93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Length: +0.03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Perfect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Ceiling ht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Corner:3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Include dome: 5.07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 -0.1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Video didn't capture the dome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2283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/>
        </p:nvSpPr>
        <p:spPr>
          <a:xfrm>
            <a:off x="4378300" y="4081100"/>
            <a:ext cx="4535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The layout was correct, predictions were near accurate compared to images,videos route. But the mirror issue still exists 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p24"/>
          <p:cNvGraphicFramePr/>
          <p:nvPr/>
        </p:nvGraphicFramePr>
        <p:xfrm>
          <a:off x="4393800" y="16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{7E2DB0F4-A25C-48E3-B056-73488EBD440F}</a:tableStyleId>
              </a:tblPr>
              <a:tblGrid>
                <a:gridCol w="1126100"/>
                <a:gridCol w="1126100"/>
                <a:gridCol w="1126100"/>
                <a:gridCol w="1126100"/>
              </a:tblGrid>
              <a:tr h="49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Item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Actual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Difference</a:t>
                      </a:r>
                      <a:endParaRPr b="1"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(Pred - Actual)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Remarks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1.17</a:t>
                      </a:r>
                      <a:r>
                        <a:rPr lang="en" sz="1100"/>
                        <a:t> x 2.03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Length:+0.1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Width -0.05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Within error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0.83 x 2.1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Length:-0.07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Width:-0.13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Within error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" name="Google Shape;144;p24"/>
          <p:cNvSpPr txBox="1"/>
          <p:nvPr/>
        </p:nvSpPr>
        <p:spPr>
          <a:xfrm>
            <a:off x="4362800" y="2036825"/>
            <a:ext cx="4535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The </a:t>
            </a:r>
            <a:r>
              <a:rPr lang="en" sz="1100">
                <a:solidFill>
                  <a:schemeClr val="dk2"/>
                </a:solidFill>
              </a:rPr>
              <a:t>layout got really messed up due to long mirrors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825"/>
            <a:ext cx="4263125" cy="4958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14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Magic Plan Room 1</a:t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6608375" y="46818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090" y="0"/>
            <a:ext cx="346597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/>
          <p:nvPr/>
        </p:nvSpPr>
        <p:spPr>
          <a:xfrm>
            <a:off x="436300" y="1145975"/>
            <a:ext cx="4535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The Layout is excellent.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Correctly identified the objects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Missed 1 window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14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Magic Plan </a:t>
            </a:r>
            <a:r>
              <a:rPr lang="en"/>
              <a:t>Room 2</a:t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6608375" y="4681800"/>
            <a:ext cx="9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436300" y="1145975"/>
            <a:ext cx="45354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Mirror Problem still exists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Correctly identified the objects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7675" y="0"/>
            <a:ext cx="3345925" cy="49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14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716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lang="en"/>
              <a:t>ccuracy for door dimensions (within a 0.15 - 0.30 m range) - Low.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damage accurately detected.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Inconsistent object identification across rooms.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Severe hallucinations caused by mirror reflections.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MagicPlan offers far superior report generation and user experience compared to Walkplan.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Robust handling is required for mirror scenarios.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Capture methodology significantly impacts model accuracy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